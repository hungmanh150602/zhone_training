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6446520"/>
            <a:ext cx="5669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Embedded Linux | Boot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46520"/>
            <a:ext cx="6858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01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21792"/>
            <a:ext cx="3749039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5D7274"/>
                </a:solidFill>
                <a:latin typeface="Aptos"/>
              </a:rPr>
              <a:t>TECHNICAL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987552"/>
            <a:ext cx="48463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490"/>
                </a:solidFill>
                <a:latin typeface="Aptos"/>
              </a:rPr>
              <a:t>EMBEDDED LINUX</a:t>
            </a:r>
          </a:p>
        </p:txBody>
      </p:sp>
      <p:sp>
        <p:nvSpPr>
          <p:cNvPr id="6" name="Deck Title Placeholder"/>
          <p:cNvSpPr txBox="1"/>
          <p:nvPr/>
        </p:nvSpPr>
        <p:spPr>
          <a:xfrm>
            <a:off x="676656" y="1444752"/>
            <a:ext cx="553212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10" b="1" i="0">
                <a:solidFill>
                  <a:srgbClr val="163036"/>
                </a:solidFill>
                <a:latin typeface="Aptos Display"/>
              </a:rPr>
              <a:t>Embedded Linux: Fundamentals and Boot Architecture</a:t>
            </a:r>
          </a:p>
        </p:txBody>
      </p:sp>
      <p:sp>
        <p:nvSpPr>
          <p:cNvPr id="7" name="One Line Promise Or Subtitle Placeholder"/>
          <p:cNvSpPr txBox="1"/>
          <p:nvPr/>
        </p:nvSpPr>
        <p:spPr>
          <a:xfrm>
            <a:off x="694944" y="2340864"/>
            <a:ext cx="55778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5D7274"/>
                </a:solidFill>
                <a:latin typeface="Aptos"/>
              </a:rPr>
              <a:t>Mastering the boot chain, cross-compilation, and system integration</a:t>
            </a:r>
          </a:p>
        </p:txBody>
      </p:sp>
      <p:pic>
        <p:nvPicPr>
          <p:cNvPr id="19" name="Hero Image 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914400"/>
            <a:ext cx="4526280" cy="39867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285232"/>
            <a:ext cx="1627632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uthor Placeholder"/>
          <p:cNvSpPr txBox="1"/>
          <p:nvPr/>
        </p:nvSpPr>
        <p:spPr>
          <a:xfrm>
            <a:off x="932688" y="5394960"/>
            <a:ext cx="12801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63036"/>
                </a:solidFill>
                <a:latin typeface="Aptos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696712"/>
            <a:ext cx="1280160" cy="256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63036"/>
                </a:solidFill>
                <a:latin typeface="Aptos"/>
              </a:rPr>
              <a:t>System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5285232"/>
            <a:ext cx="1627632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ate Placeholder"/>
          <p:cNvSpPr txBox="1"/>
          <p:nvPr/>
        </p:nvSpPr>
        <p:spPr>
          <a:xfrm>
            <a:off x="2834640" y="5394960"/>
            <a:ext cx="12801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63036"/>
                </a:solidFill>
                <a:latin typeface="Aptos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5696712"/>
            <a:ext cx="1280160" cy="256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63036"/>
                </a:solidFill>
                <a:latin typeface="Aptos"/>
              </a:rPr>
              <a:t>Boot Sequence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35424" y="5285232"/>
            <a:ext cx="1627632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udience Placeholder"/>
          <p:cNvSpPr txBox="1"/>
          <p:nvPr/>
        </p:nvSpPr>
        <p:spPr>
          <a:xfrm>
            <a:off x="4736592" y="5394960"/>
            <a:ext cx="12801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63036"/>
                </a:solidFill>
                <a:latin typeface="Aptos"/>
              </a:rPr>
              <a:t>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5696712"/>
            <a:ext cx="1280160" cy="256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63036"/>
                </a:solidFill>
                <a:latin typeface="Aptos"/>
              </a:rPr>
              <a:t>Technical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10896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7490"/>
                </a:solidFill>
                <a:latin typeface="Aptos"/>
              </a:rPr>
              <a:t>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78992" y="393192"/>
            <a:ext cx="320040" cy="0"/>
          </a:xfrm>
          <a:prstGeom prst="line">
            <a:avLst/>
          </a:prstGeom>
          <a:ln w="177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17904" y="283464"/>
            <a:ext cx="4114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5D7274"/>
                </a:solidFill>
                <a:latin typeface="Aptos"/>
              </a:rPr>
              <a:t>Tạo PPT ngôn ngữ Tiếng Anh về chủ đề: Embedded Linux Overview,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46520"/>
            <a:ext cx="5669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Embedded Linux | Boot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6858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02 / 14</a:t>
            </a:r>
          </a:p>
        </p:txBody>
      </p:sp>
      <p:sp>
        <p:nvSpPr>
          <p:cNvPr id="7" name="Title Placeholder"/>
          <p:cNvSpPr txBox="1"/>
          <p:nvPr/>
        </p:nvSpPr>
        <p:spPr>
          <a:xfrm>
            <a:off x="676656" y="713232"/>
            <a:ext cx="107899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036"/>
                </a:solidFill>
                <a:latin typeface="Aptos Display"/>
              </a:rPr>
              <a:t>Agenda: The Embedded Lifecycle</a:t>
            </a:r>
          </a:p>
        </p:txBody>
      </p:sp>
      <p:sp>
        <p:nvSpPr>
          <p:cNvPr id="8" name="Subtitle Placeholder"/>
          <p:cNvSpPr txBox="1"/>
          <p:nvPr/>
        </p:nvSpPr>
        <p:spPr>
          <a:xfrm>
            <a:off x="685800" y="1188720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D7274"/>
                </a:solidFill>
                <a:latin typeface="Aptos"/>
              </a:rPr>
              <a:t>A roadmap through development and boot architecture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98448" y="2404872"/>
            <a:ext cx="1847088" cy="0"/>
          </a:xfrm>
          <a:prstGeom prst="line">
            <a:avLst/>
          </a:prstGeom>
          <a:ln w="11430">
            <a:solidFill>
              <a:srgbClr val="C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04672" y="2176272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1762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" y="2542032"/>
            <a:ext cx="246888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genda Item 1 Placeholder"/>
          <p:cNvSpPr txBox="1"/>
          <p:nvPr/>
        </p:nvSpPr>
        <p:spPr>
          <a:xfrm>
            <a:off x="877824" y="2724912"/>
            <a:ext cx="21214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63036"/>
                </a:solidFill>
                <a:latin typeface="Aptos"/>
              </a:rPr>
              <a:t>Architecture Overview</a:t>
            </a:r>
          </a:p>
        </p:txBody>
      </p:sp>
      <p:sp>
        <p:nvSpPr>
          <p:cNvPr id="14" name="One Line Purpose Or Decision Placeholder"/>
          <p:cNvSpPr txBox="1"/>
          <p:nvPr/>
        </p:nvSpPr>
        <p:spPr>
          <a:xfrm>
            <a:off x="877824" y="3200400"/>
            <a:ext cx="2121408" cy="850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63036"/>
                </a:solidFill>
                <a:latin typeface="Aptos"/>
              </a:rPr>
              <a:t>Understanding software layers and hardware dependencies.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63036"/>
                </a:solidFill>
                <a:latin typeface="Aptos"/>
              </a:rPr>
              <a:t/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87368" y="2404872"/>
            <a:ext cx="1847088" cy="0"/>
          </a:xfrm>
          <a:prstGeom prst="line">
            <a:avLst/>
          </a:prstGeom>
          <a:ln w="11430">
            <a:solidFill>
              <a:srgbClr val="C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593592" y="2176272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21762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5576" y="2542032"/>
            <a:ext cx="246888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da Item 2 Placeholder"/>
          <p:cNvSpPr txBox="1"/>
          <p:nvPr/>
        </p:nvSpPr>
        <p:spPr>
          <a:xfrm>
            <a:off x="3666744" y="2724912"/>
            <a:ext cx="21214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63036"/>
                </a:solidFill>
                <a:latin typeface="Aptos"/>
              </a:rPr>
              <a:t>Cross-Compilation</a:t>
            </a:r>
          </a:p>
        </p:txBody>
      </p:sp>
      <p:sp>
        <p:nvSpPr>
          <p:cNvPr id="20" name="One Line Purpose Or Decision 2 Placeholder"/>
          <p:cNvSpPr txBox="1"/>
          <p:nvPr/>
        </p:nvSpPr>
        <p:spPr>
          <a:xfrm>
            <a:off x="3666744" y="3200400"/>
            <a:ext cx="2121408" cy="850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63036"/>
                </a:solidFill>
                <a:latin typeface="Aptos"/>
              </a:rPr>
              <a:t>Host-to-target development workflows and toolchains.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63036"/>
                </a:solidFill>
                <a:latin typeface="Aptos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76288" y="2404872"/>
            <a:ext cx="1847088" cy="0"/>
          </a:xfrm>
          <a:prstGeom prst="line">
            <a:avLst/>
          </a:prstGeom>
          <a:ln w="11430">
            <a:solidFill>
              <a:srgbClr val="C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382512" y="2176272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1762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2542032"/>
            <a:ext cx="246888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da Item 3 Placeholder"/>
          <p:cNvSpPr txBox="1"/>
          <p:nvPr/>
        </p:nvSpPr>
        <p:spPr>
          <a:xfrm>
            <a:off x="6455664" y="2724912"/>
            <a:ext cx="21214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63036"/>
                </a:solidFill>
                <a:latin typeface="Aptos"/>
              </a:rPr>
              <a:t>The Boot Chain</a:t>
            </a:r>
          </a:p>
        </p:txBody>
      </p:sp>
      <p:sp>
        <p:nvSpPr>
          <p:cNvPr id="26" name="One Line Purpose Or Decision 3 Placeholder"/>
          <p:cNvSpPr txBox="1"/>
          <p:nvPr/>
        </p:nvSpPr>
        <p:spPr>
          <a:xfrm>
            <a:off x="6455664" y="3200400"/>
            <a:ext cx="2121408" cy="850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63036"/>
                </a:solidFill>
                <a:latin typeface="Aptos"/>
              </a:rPr>
              <a:t>Sequence from ROM code to init and userspace.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63036"/>
                </a:solidFill>
                <a:latin typeface="Aptos"/>
              </a:rPr>
              <a:t/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65208" y="2404872"/>
            <a:ext cx="1847088" cy="0"/>
          </a:xfrm>
          <a:prstGeom prst="line">
            <a:avLst/>
          </a:prstGeom>
          <a:ln w="11430">
            <a:solidFill>
              <a:srgbClr val="C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171432" y="2176272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1432" y="21762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3416" y="2542032"/>
            <a:ext cx="246888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genda Item 4 Placeholder"/>
          <p:cNvSpPr txBox="1"/>
          <p:nvPr/>
        </p:nvSpPr>
        <p:spPr>
          <a:xfrm>
            <a:off x="9244584" y="2724912"/>
            <a:ext cx="21214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63036"/>
                </a:solidFill>
                <a:latin typeface="Aptos"/>
              </a:rPr>
              <a:t>Deployment Strategy</a:t>
            </a:r>
          </a:p>
        </p:txBody>
      </p:sp>
      <p:sp>
        <p:nvSpPr>
          <p:cNvPr id="32" name="One Line Purpose Or Decision 4 Placeholder"/>
          <p:cNvSpPr txBox="1"/>
          <p:nvPr/>
        </p:nvSpPr>
        <p:spPr>
          <a:xfrm>
            <a:off x="9244584" y="3200400"/>
            <a:ext cx="2121408" cy="850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63036"/>
                </a:solidFill>
                <a:latin typeface="Aptos"/>
              </a:rPr>
              <a:t>Partitioning and managing boot failures.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63036"/>
                </a:solidFill>
                <a:latin typeface="Aptos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" y="5010912"/>
            <a:ext cx="10835640" cy="822960"/>
          </a:xfrm>
          <a:prstGeom prst="roundRect">
            <a:avLst/>
          </a:prstGeom>
          <a:solidFill>
            <a:srgbClr val="DFF7F3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6656" y="5010912"/>
            <a:ext cx="73152" cy="8229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eeting Outcome Placeholder"/>
          <p:cNvSpPr txBox="1"/>
          <p:nvPr/>
        </p:nvSpPr>
        <p:spPr>
          <a:xfrm>
            <a:off x="969264" y="5120640"/>
            <a:ext cx="1039672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36"/>
                </a:solidFill>
                <a:latin typeface="Aptos"/>
              </a:rPr>
              <a:t>Technical Competency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" y="5422392"/>
            <a:ext cx="1039672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0" i="0">
                <a:solidFill>
                  <a:srgbClr val="163036"/>
                </a:solidFill>
                <a:latin typeface="Aptos"/>
              </a:rPr>
              <a:t>By the end, you will understand the embedded boot chain, cross-compilation necessities, and system partitioning strategies.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10896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7490"/>
                </a:solidFill>
                <a:latin typeface="Aptos"/>
              </a:rPr>
              <a:t>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78992" y="393192"/>
            <a:ext cx="320040" cy="0"/>
          </a:xfrm>
          <a:prstGeom prst="line">
            <a:avLst/>
          </a:prstGeom>
          <a:ln w="177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17904" y="283464"/>
            <a:ext cx="4114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5D7274"/>
                </a:solidFill>
                <a:latin typeface="Aptos"/>
              </a:rPr>
              <a:t>Tạo PPT ngôn ngữ Tiếng Anh về chủ đề: Embedded Linux Overview,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46520"/>
            <a:ext cx="5669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Embedded Linux | Boot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6858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03 / 14</a:t>
            </a:r>
          </a:p>
        </p:txBody>
      </p:sp>
      <p:sp>
        <p:nvSpPr>
          <p:cNvPr id="7" name="Title Placeholder"/>
          <p:cNvSpPr txBox="1"/>
          <p:nvPr/>
        </p:nvSpPr>
        <p:spPr>
          <a:xfrm>
            <a:off x="676656" y="713232"/>
            <a:ext cx="107899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036"/>
                </a:solidFill>
                <a:latin typeface="Aptos Display"/>
              </a:rPr>
              <a:t>The Challenge: Resource Constraints</a:t>
            </a:r>
          </a:p>
        </p:txBody>
      </p:sp>
      <p:sp>
        <p:nvSpPr>
          <p:cNvPr id="8" name="Subtitle Placeholder"/>
          <p:cNvSpPr txBox="1"/>
          <p:nvPr/>
        </p:nvSpPr>
        <p:spPr>
          <a:xfrm>
            <a:off x="685800" y="1188720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D7274"/>
                </a:solidFill>
                <a:latin typeface="Aptos"/>
              </a:rPr>
              <a:t>Building software for specialized, limited-resource silicon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481328"/>
            <a:ext cx="10835640" cy="841248"/>
          </a:xfrm>
          <a:prstGeom prst="roundRect">
            <a:avLst/>
          </a:prstGeom>
          <a:solidFill>
            <a:srgbClr val="DFF7F3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" y="1481328"/>
            <a:ext cx="73152" cy="8412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blem Statement Placeholder"/>
          <p:cNvSpPr txBox="1"/>
          <p:nvPr/>
        </p:nvSpPr>
        <p:spPr>
          <a:xfrm>
            <a:off x="969264" y="1591056"/>
            <a:ext cx="1039672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3036"/>
                </a:solidFill>
                <a:latin typeface="Aptos"/>
              </a:rPr>
              <a:t>Limited Compute and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1892808"/>
            <a:ext cx="1039672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163036"/>
                </a:solidFill>
                <a:latin typeface="Aptos"/>
              </a:rPr>
              <a:t>Embedded systems lack PC resources, necessitating streamlined boot processes and specialized software toolchains.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2761488"/>
            <a:ext cx="24688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ho Is Affected Placeholder"/>
          <p:cNvSpPr txBox="1"/>
          <p:nvPr/>
        </p:nvSpPr>
        <p:spPr>
          <a:xfrm>
            <a:off x="877824" y="2944368"/>
            <a:ext cx="21214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3036"/>
                </a:solidFill>
                <a:latin typeface="Aptos"/>
              </a:rPr>
              <a:t>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419856"/>
            <a:ext cx="212140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63036"/>
                </a:solidFill>
                <a:latin typeface="Aptos"/>
              </a:rPr>
              <a:t>Specialized ARM or RISC chips.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5576" y="2761488"/>
            <a:ext cx="24688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urrent Pain Placeholder"/>
          <p:cNvSpPr txBox="1"/>
          <p:nvPr/>
        </p:nvSpPr>
        <p:spPr>
          <a:xfrm>
            <a:off x="3666744" y="2944368"/>
            <a:ext cx="21214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3036"/>
                </a:solidFill>
                <a:latin typeface="Aptos"/>
              </a:rPr>
              <a:t>Tooling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3419856"/>
            <a:ext cx="212140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63036"/>
                </a:solidFill>
                <a:latin typeface="Aptos"/>
              </a:rPr>
              <a:t>Cross-compilation required.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2761488"/>
            <a:ext cx="24688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ot Cause Placeholder"/>
          <p:cNvSpPr txBox="1"/>
          <p:nvPr/>
        </p:nvSpPr>
        <p:spPr>
          <a:xfrm>
            <a:off x="6455664" y="2944368"/>
            <a:ext cx="21214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3036"/>
                </a:solidFill>
                <a:latin typeface="Aptos"/>
              </a:rPr>
              <a:t>Boot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419856"/>
            <a:ext cx="212140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63036"/>
                </a:solidFill>
                <a:latin typeface="Aptos"/>
              </a:rPr>
              <a:t>Performance critical.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5" y="2761488"/>
            <a:ext cx="24688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Why Now Placeholder"/>
          <p:cNvSpPr txBox="1"/>
          <p:nvPr/>
        </p:nvSpPr>
        <p:spPr>
          <a:xfrm>
            <a:off x="9244584" y="2944368"/>
            <a:ext cx="21214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3036"/>
                </a:solidFill>
                <a:latin typeface="Aptos"/>
              </a:rPr>
              <a:t>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3419856"/>
            <a:ext cx="212140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63036"/>
                </a:solidFill>
                <a:latin typeface="Aptos"/>
              </a:rPr>
              <a:t>Zero-failure requirement.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" y="4800600"/>
            <a:ext cx="10835640" cy="749808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656" y="4800600"/>
            <a:ext cx="73152" cy="7498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cision Context Placeholder"/>
          <p:cNvSpPr txBox="1"/>
          <p:nvPr/>
        </p:nvSpPr>
        <p:spPr>
          <a:xfrm>
            <a:off x="969264" y="4910328"/>
            <a:ext cx="1039672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36"/>
                </a:solidFill>
                <a:latin typeface="Aptos"/>
              </a:rPr>
              <a:t>Architecture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5212080"/>
            <a:ext cx="10396728" cy="256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63036"/>
                </a:solidFill>
                <a:latin typeface="Aptos"/>
              </a:rPr>
              <a:t>Strategic selection of architecture and build methods to ensure reliability and efficiency.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6446520"/>
            <a:ext cx="5669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Embedded Linux | Boot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46520"/>
            <a:ext cx="6858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04 / 14</a:t>
            </a:r>
          </a:p>
        </p:txBody>
      </p:sp>
      <p:sp>
        <p:nvSpPr>
          <p:cNvPr id="4" name="Section Number Placeholder"/>
          <p:cNvSpPr txBox="1"/>
          <p:nvPr/>
        </p:nvSpPr>
        <p:spPr>
          <a:xfrm>
            <a:off x="676656" y="74980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E7490"/>
                </a:solidFill>
                <a:latin typeface="Aptos"/>
              </a:rPr>
              <a:t>SECTION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76656" y="1417320"/>
            <a:ext cx="1655064" cy="0"/>
          </a:xfrm>
          <a:prstGeom prst="line">
            <a:avLst/>
          </a:prstGeom>
          <a:ln w="2540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ection Label Placeholder"/>
          <p:cNvSpPr txBox="1"/>
          <p:nvPr/>
        </p:nvSpPr>
        <p:spPr>
          <a:xfrm>
            <a:off x="676656" y="1755648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5D7274"/>
                </a:solidFill>
                <a:latin typeface="Aptos"/>
              </a:rPr>
              <a:t>ARCHITECTURE</a:t>
            </a:r>
          </a:p>
        </p:txBody>
      </p:sp>
      <p:sp>
        <p:nvSpPr>
          <p:cNvPr id="7" name="Section Title Placeholder"/>
          <p:cNvSpPr txBox="1"/>
          <p:nvPr/>
        </p:nvSpPr>
        <p:spPr>
          <a:xfrm>
            <a:off x="658368" y="2167128"/>
            <a:ext cx="57607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163036"/>
                </a:solidFill>
                <a:latin typeface="Aptos Display"/>
              </a:rPr>
              <a:t>Embedded Linux Foundations</a:t>
            </a:r>
          </a:p>
        </p:txBody>
      </p:sp>
      <p:sp>
        <p:nvSpPr>
          <p:cNvPr id="8" name="One Sentence Framing Placeholder"/>
          <p:cNvSpPr txBox="1"/>
          <p:nvPr/>
        </p:nvSpPr>
        <p:spPr>
          <a:xfrm>
            <a:off x="694944" y="3127248"/>
            <a:ext cx="5394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D7274"/>
                </a:solidFill>
                <a:latin typeface="Aptos"/>
              </a:rPr>
              <a:t>The essential synergy between silicon and software layers.</a:t>
            </a:r>
          </a:p>
        </p:txBody>
      </p:sp>
      <p:pic>
        <p:nvPicPr>
          <p:cNvPr id="15" name="Optional Image Or Icon 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57984"/>
            <a:ext cx="4526280" cy="2651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20840" y="5157216"/>
            <a:ext cx="4526280" cy="566928"/>
          </a:xfrm>
          <a:prstGeom prst="roundRect">
            <a:avLst/>
          </a:prstGeom>
          <a:solidFill>
            <a:srgbClr val="DFF7F3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5157216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ition Note Placeholder"/>
          <p:cNvSpPr txBox="1"/>
          <p:nvPr/>
        </p:nvSpPr>
        <p:spPr>
          <a:xfrm>
            <a:off x="7013448" y="5276088"/>
            <a:ext cx="1901037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63036"/>
                </a:solidFill>
                <a:latin typeface="Aptos"/>
              </a:rPr>
              <a:t>Next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9077" y="5276088"/>
            <a:ext cx="202173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3036"/>
                </a:solidFill>
                <a:latin typeface="Aptos"/>
              </a:rPr>
              <a:t>Moving to the mechanics of cross-compilation.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10896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7490"/>
                </a:solidFill>
                <a:latin typeface="Aptos"/>
              </a:rPr>
              <a:t>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78992" y="393192"/>
            <a:ext cx="320040" cy="0"/>
          </a:xfrm>
          <a:prstGeom prst="line">
            <a:avLst/>
          </a:prstGeom>
          <a:ln w="177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17904" y="283464"/>
            <a:ext cx="4114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5D7274"/>
                </a:solidFill>
                <a:latin typeface="Aptos"/>
              </a:rPr>
              <a:t>Tạo PPT ngôn ngữ Tiếng Anh về chủ đề: Embedded Linux Overview,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46520"/>
            <a:ext cx="5669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Embedded Linux | Boot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6858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05 / 14</a:t>
            </a:r>
          </a:p>
        </p:txBody>
      </p:sp>
      <p:sp>
        <p:nvSpPr>
          <p:cNvPr id="7" name="Title Placeholder"/>
          <p:cNvSpPr txBox="1"/>
          <p:nvPr/>
        </p:nvSpPr>
        <p:spPr>
          <a:xfrm>
            <a:off x="676656" y="713232"/>
            <a:ext cx="107899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036"/>
                </a:solidFill>
                <a:latin typeface="Aptos Display"/>
              </a:rPr>
              <a:t>System Architecture Overview</a:t>
            </a:r>
          </a:p>
        </p:txBody>
      </p:sp>
      <p:sp>
        <p:nvSpPr>
          <p:cNvPr id="8" name="Subtitle Placeholder"/>
          <p:cNvSpPr txBox="1"/>
          <p:nvPr/>
        </p:nvSpPr>
        <p:spPr>
          <a:xfrm>
            <a:off x="685800" y="1188720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D7274"/>
                </a:solidFill>
                <a:latin typeface="Aptos"/>
              </a:rPr>
              <a:t>Key functional components of an embedded Linux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84831"/>
            <a:ext cx="19659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nputs Placeholder"/>
          <p:cNvSpPr txBox="1"/>
          <p:nvPr/>
        </p:nvSpPr>
        <p:spPr>
          <a:xfrm>
            <a:off x="950976" y="2267712"/>
            <a:ext cx="161848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3036"/>
                </a:solidFill>
                <a:latin typeface="Aptos"/>
              </a:rPr>
              <a:t>Bootloader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43200"/>
            <a:ext cx="161848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63036"/>
                </a:solidFill>
                <a:latin typeface="Aptos"/>
              </a:rPr>
              <a:t>Initial hardware bring-up and kernel loading.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2670048"/>
            <a:ext cx="475488" cy="0"/>
          </a:xfrm>
          <a:prstGeom prst="line">
            <a:avLst/>
          </a:prstGeom>
          <a:ln w="1651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73552" y="2084831"/>
            <a:ext cx="1965960" cy="1170432"/>
          </a:xfrm>
          <a:prstGeom prst="roundRect">
            <a:avLst/>
          </a:prstGeom>
          <a:solidFill>
            <a:srgbClr val="DFF7F3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cessing Placeholder"/>
          <p:cNvSpPr txBox="1"/>
          <p:nvPr/>
        </p:nvSpPr>
        <p:spPr>
          <a:xfrm>
            <a:off x="3474720" y="2267712"/>
            <a:ext cx="161848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3036"/>
                </a:solidFill>
                <a:latin typeface="Aptos"/>
              </a:rPr>
              <a:t>Linux 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43200"/>
            <a:ext cx="161848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63036"/>
                </a:solidFill>
                <a:latin typeface="Aptos"/>
              </a:rPr>
              <a:t>Hardware abstraction and resource management.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66944" y="2670048"/>
            <a:ext cx="475488" cy="0"/>
          </a:xfrm>
          <a:prstGeom prst="line">
            <a:avLst/>
          </a:prstGeom>
          <a:ln w="1651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797296" y="2084831"/>
            <a:ext cx="19659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utputs Placeholder"/>
          <p:cNvSpPr txBox="1"/>
          <p:nvPr/>
        </p:nvSpPr>
        <p:spPr>
          <a:xfrm>
            <a:off x="5998464" y="2267712"/>
            <a:ext cx="161848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3036"/>
                </a:solidFill>
                <a:latin typeface="Aptos"/>
              </a:rPr>
              <a:t>RootFS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743200"/>
            <a:ext cx="161848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63036"/>
                </a:solidFill>
                <a:latin typeface="Aptos"/>
              </a:rPr>
              <a:t>Core libraries and essential utilities.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90688" y="2670048"/>
            <a:ext cx="475487" cy="0"/>
          </a:xfrm>
          <a:prstGeom prst="line">
            <a:avLst/>
          </a:prstGeom>
          <a:ln w="1651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321040" y="2084831"/>
            <a:ext cx="196596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eedback Placeholder"/>
          <p:cNvSpPr txBox="1"/>
          <p:nvPr/>
        </p:nvSpPr>
        <p:spPr>
          <a:xfrm>
            <a:off x="8522208" y="2267712"/>
            <a:ext cx="161848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3036"/>
                </a:solidFill>
                <a:latin typeface="Aptos"/>
              </a:rPr>
              <a:t>Init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2743200"/>
            <a:ext cx="161848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63036"/>
                </a:solidFill>
                <a:latin typeface="Aptos"/>
              </a:rPr>
              <a:t>Handoff to userspace services (PID 1).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00200" y="4187952"/>
            <a:ext cx="2514600" cy="8229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ntrol Placeholder"/>
          <p:cNvSpPr txBox="1"/>
          <p:nvPr/>
        </p:nvSpPr>
        <p:spPr>
          <a:xfrm>
            <a:off x="1801368" y="4297680"/>
            <a:ext cx="216712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63036"/>
                </a:solidFill>
                <a:latin typeface="Aptos"/>
              </a:rPr>
              <a:t>Drivers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01368" y="4599432"/>
            <a:ext cx="2167127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63036"/>
                </a:solidFill>
                <a:latin typeface="Aptos"/>
              </a:rPr>
              <a:t>Hardware-specific interface modules.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4187952"/>
            <a:ext cx="2514600" cy="8229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bservability Placeholder"/>
          <p:cNvSpPr txBox="1"/>
          <p:nvPr/>
        </p:nvSpPr>
        <p:spPr>
          <a:xfrm>
            <a:off x="4910328" y="4297680"/>
            <a:ext cx="216712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63036"/>
                </a:solidFill>
                <a:latin typeface="Aptos"/>
              </a:rPr>
              <a:t>Device Tree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4599432"/>
            <a:ext cx="2167127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63036"/>
                </a:solidFill>
                <a:latin typeface="Aptos"/>
              </a:rPr>
              <a:t>Configuration metadata for hardware.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4187952"/>
            <a:ext cx="2514600" cy="8229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wner Placeholder"/>
          <p:cNvSpPr txBox="1"/>
          <p:nvPr/>
        </p:nvSpPr>
        <p:spPr>
          <a:xfrm>
            <a:off x="8019288" y="4297680"/>
            <a:ext cx="216712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63036"/>
                </a:solidFill>
                <a:latin typeface="Aptos"/>
              </a:rPr>
              <a:t>Toolchain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4599432"/>
            <a:ext cx="2167127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63036"/>
                </a:solidFill>
                <a:latin typeface="Aptos"/>
              </a:rPr>
              <a:t>Cross-compilation utilities.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6446520"/>
            <a:ext cx="5669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Embedded Linux | Boot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46520"/>
            <a:ext cx="6858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06 / 14</a:t>
            </a:r>
          </a:p>
        </p:txBody>
      </p:sp>
      <p:sp>
        <p:nvSpPr>
          <p:cNvPr id="4" name="Section Number Placeholder"/>
          <p:cNvSpPr txBox="1"/>
          <p:nvPr/>
        </p:nvSpPr>
        <p:spPr>
          <a:xfrm>
            <a:off x="676656" y="74980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E7490"/>
                </a:solidFill>
                <a:latin typeface="Aptos"/>
              </a:rPr>
              <a:t>SECTION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76656" y="1417320"/>
            <a:ext cx="1655064" cy="0"/>
          </a:xfrm>
          <a:prstGeom prst="line">
            <a:avLst/>
          </a:prstGeom>
          <a:ln w="2540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ection Label Placeholder"/>
          <p:cNvSpPr txBox="1"/>
          <p:nvPr/>
        </p:nvSpPr>
        <p:spPr>
          <a:xfrm>
            <a:off x="676656" y="1755648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5D7274"/>
                </a:solidFill>
                <a:latin typeface="Aptos"/>
              </a:rPr>
              <a:t>DEVELOPMENT</a:t>
            </a:r>
          </a:p>
        </p:txBody>
      </p:sp>
      <p:sp>
        <p:nvSpPr>
          <p:cNvPr id="7" name="Section Title Placeholder"/>
          <p:cNvSpPr txBox="1"/>
          <p:nvPr/>
        </p:nvSpPr>
        <p:spPr>
          <a:xfrm>
            <a:off x="658368" y="2167128"/>
            <a:ext cx="57607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 i="0">
                <a:solidFill>
                  <a:srgbClr val="163036"/>
                </a:solidFill>
                <a:latin typeface="Aptos Display"/>
              </a:rPr>
              <a:t>Cross-Compilation Workflow</a:t>
            </a:r>
          </a:p>
        </p:txBody>
      </p:sp>
      <p:sp>
        <p:nvSpPr>
          <p:cNvPr id="8" name="One Sentence Framing Placeholder"/>
          <p:cNvSpPr txBox="1"/>
          <p:nvPr/>
        </p:nvSpPr>
        <p:spPr>
          <a:xfrm>
            <a:off x="694944" y="3127248"/>
            <a:ext cx="5394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D7274"/>
                </a:solidFill>
                <a:latin typeface="Aptos"/>
              </a:rPr>
              <a:t>Enabling development on limited target hardware.</a:t>
            </a:r>
          </a:p>
        </p:txBody>
      </p:sp>
      <p:pic>
        <p:nvPicPr>
          <p:cNvPr id="15" name="Optional Image Or Icon 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57984"/>
            <a:ext cx="4526280" cy="2651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20840" y="5157216"/>
            <a:ext cx="4526280" cy="566928"/>
          </a:xfrm>
          <a:prstGeom prst="roundRect">
            <a:avLst/>
          </a:prstGeom>
          <a:solidFill>
            <a:srgbClr val="DFF7F3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5157216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ition Note Placeholder"/>
          <p:cNvSpPr txBox="1"/>
          <p:nvPr/>
        </p:nvSpPr>
        <p:spPr>
          <a:xfrm>
            <a:off x="7013448" y="5276088"/>
            <a:ext cx="1901037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63036"/>
                </a:solidFill>
                <a:latin typeface="Aptos"/>
              </a:rPr>
              <a:t>Next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9077" y="5276088"/>
            <a:ext cx="202173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3036"/>
                </a:solidFill>
                <a:latin typeface="Aptos"/>
              </a:rPr>
              <a:t>Examining the boot process chain.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10896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7490"/>
                </a:solidFill>
                <a:latin typeface="Aptos"/>
              </a:rPr>
              <a:t>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78992" y="393192"/>
            <a:ext cx="320040" cy="0"/>
          </a:xfrm>
          <a:prstGeom prst="line">
            <a:avLst/>
          </a:prstGeom>
          <a:ln w="177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17904" y="283464"/>
            <a:ext cx="4114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5D7274"/>
                </a:solidFill>
                <a:latin typeface="Aptos"/>
              </a:rPr>
              <a:t>Tạo PPT ngôn ngữ Tiếng Anh về chủ đề: Embedded Linux Overview,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46520"/>
            <a:ext cx="5669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Embedded Linux | Boot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6858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07 / 14</a:t>
            </a:r>
          </a:p>
        </p:txBody>
      </p:sp>
      <p:sp>
        <p:nvSpPr>
          <p:cNvPr id="7" name="Title Placeholder"/>
          <p:cNvSpPr txBox="1"/>
          <p:nvPr/>
        </p:nvSpPr>
        <p:spPr>
          <a:xfrm>
            <a:off x="676656" y="713232"/>
            <a:ext cx="107899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036"/>
                </a:solidFill>
                <a:latin typeface="Aptos Display"/>
              </a:rPr>
              <a:t>Cross-Compilation vs. Native</a:t>
            </a:r>
          </a:p>
        </p:txBody>
      </p:sp>
      <p:sp>
        <p:nvSpPr>
          <p:cNvPr id="8" name="Subtitle Placeholder"/>
          <p:cNvSpPr txBox="1"/>
          <p:nvPr/>
        </p:nvSpPr>
        <p:spPr>
          <a:xfrm>
            <a:off x="685800" y="1188720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D7274"/>
                </a:solidFill>
                <a:latin typeface="Aptos"/>
              </a:rPr>
              <a:t>Comparison of development workflows for embedded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600200"/>
            <a:ext cx="512064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ption A Title Placeholder"/>
          <p:cNvSpPr txBox="1"/>
          <p:nvPr/>
        </p:nvSpPr>
        <p:spPr>
          <a:xfrm>
            <a:off x="877824" y="1783080"/>
            <a:ext cx="47731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3036"/>
                </a:solidFill>
                <a:latin typeface="Aptos"/>
              </a:rPr>
              <a:t>Cross-Compilation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58568"/>
            <a:ext cx="4773168" cy="228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63036"/>
                </a:solidFill>
                <a:latin typeface="Aptos"/>
              </a:rPr>
              <a:t>Development on x86_64 host targeting ARM/MIPS.
• High performance compilation speed
• Complex toolchain setup
• Essential for production imaging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63036"/>
                </a:solidFill>
                <a:latin typeface="Aptos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63036"/>
                </a:solidFill>
                <a:latin typeface="Aptos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63036"/>
                </a:solidFill>
                <a:latin typeface="Aptos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63036"/>
                </a:solidFill>
                <a:latin typeface="Aptos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1656" y="1600200"/>
            <a:ext cx="5120640" cy="3063240"/>
          </a:xfrm>
          <a:prstGeom prst="roundRect">
            <a:avLst/>
          </a:prstGeom>
          <a:solidFill>
            <a:srgbClr val="DFF7F3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91656" y="1600200"/>
            <a:ext cx="73152" cy="30632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tion B Title Placeholder"/>
          <p:cNvSpPr txBox="1"/>
          <p:nvPr/>
        </p:nvSpPr>
        <p:spPr>
          <a:xfrm>
            <a:off x="6684264" y="1783080"/>
            <a:ext cx="4681727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3036"/>
                </a:solidFill>
                <a:latin typeface="Aptos"/>
              </a:rPr>
              <a:t>Native Compilation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2258568"/>
            <a:ext cx="4681727" cy="228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63036"/>
                </a:solidFill>
                <a:latin typeface="Aptos"/>
              </a:rPr>
              <a:t>Compiling software directly on the board.
• Requires high target RAM/Storage
• Exceptionally slow build performance
• Not suitable for kernel or large stacks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63036"/>
                </a:solidFill>
                <a:latin typeface="Aptos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63036"/>
                </a:solidFill>
                <a:latin typeface="Aptos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63036"/>
                </a:solidFill>
                <a:latin typeface="Aptos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63036"/>
                </a:solidFill>
                <a:latin typeface="Aptos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" y="5157216"/>
            <a:ext cx="10835640" cy="603504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" y="5157216"/>
            <a:ext cx="73152" cy="60350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ttom Line Placeholder"/>
          <p:cNvSpPr txBox="1"/>
          <p:nvPr/>
        </p:nvSpPr>
        <p:spPr>
          <a:xfrm>
            <a:off x="969264" y="5276088"/>
            <a:ext cx="242316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3036"/>
                </a:solidFill>
                <a:latin typeface="Aptos"/>
              </a:rPr>
              <a:t>The Verdict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6" y="5276088"/>
            <a:ext cx="7808975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3036"/>
                </a:solidFill>
                <a:latin typeface="Aptos"/>
              </a:rPr>
              <a:t>Cross-compilation is mandatory for resource-limited targets; native compilation is generally non-viable.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6446520"/>
            <a:ext cx="5669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Embedded Linux | Boot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46520"/>
            <a:ext cx="6858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08 / 14</a:t>
            </a:r>
          </a:p>
        </p:txBody>
      </p:sp>
      <p:sp>
        <p:nvSpPr>
          <p:cNvPr id="4" name="Section Number Placeholder"/>
          <p:cNvSpPr txBox="1"/>
          <p:nvPr/>
        </p:nvSpPr>
        <p:spPr>
          <a:xfrm>
            <a:off x="676656" y="74980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E7490"/>
                </a:solidFill>
                <a:latin typeface="Aptos"/>
              </a:rPr>
              <a:t>SECTION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76656" y="1417320"/>
            <a:ext cx="1655064" cy="0"/>
          </a:xfrm>
          <a:prstGeom prst="line">
            <a:avLst/>
          </a:prstGeom>
          <a:ln w="2540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ection Label Placeholder"/>
          <p:cNvSpPr txBox="1"/>
          <p:nvPr/>
        </p:nvSpPr>
        <p:spPr>
          <a:xfrm>
            <a:off x="676656" y="1755648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5D7274"/>
                </a:solidFill>
                <a:latin typeface="Aptos"/>
              </a:rPr>
              <a:t>BOOT SEQUENCE</a:t>
            </a:r>
          </a:p>
        </p:txBody>
      </p:sp>
      <p:sp>
        <p:nvSpPr>
          <p:cNvPr id="7" name="Section Title Placeholder"/>
          <p:cNvSpPr txBox="1"/>
          <p:nvPr/>
        </p:nvSpPr>
        <p:spPr>
          <a:xfrm>
            <a:off x="658368" y="2167128"/>
            <a:ext cx="57607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20" b="1" i="0">
                <a:solidFill>
                  <a:srgbClr val="163036"/>
                </a:solidFill>
                <a:latin typeface="Aptos Display"/>
              </a:rPr>
              <a:t>The Boot Process Chain</a:t>
            </a:r>
          </a:p>
        </p:txBody>
      </p:sp>
      <p:sp>
        <p:nvSpPr>
          <p:cNvPr id="8" name="One Sentence Framing Placeholder"/>
          <p:cNvSpPr txBox="1"/>
          <p:nvPr/>
        </p:nvSpPr>
        <p:spPr>
          <a:xfrm>
            <a:off x="694944" y="3127248"/>
            <a:ext cx="5394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D7274"/>
                </a:solidFill>
                <a:latin typeface="Aptos"/>
              </a:rPr>
              <a:t>Sequential handover of control to Linux.</a:t>
            </a:r>
          </a:p>
        </p:txBody>
      </p:sp>
      <p:pic>
        <p:nvPicPr>
          <p:cNvPr id="15" name="Optional Image Or Icon 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57984"/>
            <a:ext cx="4526280" cy="2651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20840" y="5157216"/>
            <a:ext cx="4526280" cy="566928"/>
          </a:xfrm>
          <a:prstGeom prst="roundRect">
            <a:avLst/>
          </a:prstGeom>
          <a:solidFill>
            <a:srgbClr val="DFF7F3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5157216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ition Note Placeholder"/>
          <p:cNvSpPr txBox="1"/>
          <p:nvPr/>
        </p:nvSpPr>
        <p:spPr>
          <a:xfrm>
            <a:off x="7013448" y="5276088"/>
            <a:ext cx="1901037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63036"/>
                </a:solidFill>
                <a:latin typeface="Aptos"/>
              </a:rPr>
              <a:t>Next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9077" y="5276088"/>
            <a:ext cx="2021738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3036"/>
                </a:solidFill>
                <a:latin typeface="Aptos"/>
              </a:rPr>
              <a:t>Deep dive into boot stages.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10896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7490"/>
                </a:solidFill>
                <a:latin typeface="Aptos"/>
              </a:rPr>
              <a:t>09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78992" y="393192"/>
            <a:ext cx="320040" cy="0"/>
          </a:xfrm>
          <a:prstGeom prst="line">
            <a:avLst/>
          </a:prstGeom>
          <a:ln w="177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17904" y="283464"/>
            <a:ext cx="4114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5D7274"/>
                </a:solidFill>
                <a:latin typeface="Aptos"/>
              </a:rPr>
              <a:t>Tạo PPT ngôn ngữ Tiếng Anh về chủ đề: Embedded Linux Overview,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46520"/>
            <a:ext cx="5669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Embedded Linux | Boot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6858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09 / 14</a:t>
            </a:r>
          </a:p>
        </p:txBody>
      </p:sp>
      <p:sp>
        <p:nvSpPr>
          <p:cNvPr id="7" name="Title Placeholder"/>
          <p:cNvSpPr txBox="1"/>
          <p:nvPr/>
        </p:nvSpPr>
        <p:spPr>
          <a:xfrm>
            <a:off x="676656" y="713232"/>
            <a:ext cx="107899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036"/>
                </a:solidFill>
                <a:latin typeface="Aptos Display"/>
              </a:rPr>
              <a:t>The Boot Flow Sequence</a:t>
            </a:r>
          </a:p>
        </p:txBody>
      </p:sp>
      <p:sp>
        <p:nvSpPr>
          <p:cNvPr id="8" name="Subtitle Placeholder"/>
          <p:cNvSpPr txBox="1"/>
          <p:nvPr/>
        </p:nvSpPr>
        <p:spPr>
          <a:xfrm>
            <a:off x="685800" y="1188720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D7274"/>
                </a:solidFill>
                <a:latin typeface="Aptos"/>
              </a:rPr>
              <a:t>From initial power-on to user space initiation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38528"/>
            <a:ext cx="178308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121408"/>
            <a:ext cx="14356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36"/>
                </a:solidFill>
                <a:latin typeface="Aptos"/>
              </a:rPr>
              <a:t>01</a:t>
            </a:r>
          </a:p>
        </p:txBody>
      </p:sp>
      <p:sp>
        <p:nvSpPr>
          <p:cNvPr id="11" name="Step 1] [input / Output Placeholder"/>
          <p:cNvSpPr txBox="1"/>
          <p:nvPr/>
        </p:nvSpPr>
        <p:spPr>
          <a:xfrm>
            <a:off x="969264" y="2596896"/>
            <a:ext cx="143560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3036"/>
                </a:solidFill>
                <a:latin typeface="Aptos"/>
              </a:rPr>
              <a:t>ROM Code
Initial Hardware Init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3036"/>
                </a:solidFill>
                <a:latin typeface="Apto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78608" y="2542032"/>
            <a:ext cx="365760" cy="0"/>
          </a:xfrm>
          <a:prstGeom prst="line">
            <a:avLst/>
          </a:prstGeom>
          <a:ln w="1651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90088" y="1938528"/>
            <a:ext cx="1783080" cy="1207008"/>
          </a:xfrm>
          <a:prstGeom prst="roundRect">
            <a:avLst/>
          </a:prstGeom>
          <a:solidFill>
            <a:srgbClr val="DFF7F3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91256" y="2121408"/>
            <a:ext cx="14356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36"/>
                </a:solidFill>
                <a:latin typeface="Aptos"/>
              </a:rPr>
              <a:t>02</a:t>
            </a:r>
          </a:p>
        </p:txBody>
      </p:sp>
      <p:sp>
        <p:nvSpPr>
          <p:cNvPr id="15" name="Step 2] [input / Output Placeholder"/>
          <p:cNvSpPr txBox="1"/>
          <p:nvPr/>
        </p:nvSpPr>
        <p:spPr>
          <a:xfrm>
            <a:off x="3191256" y="2596896"/>
            <a:ext cx="143560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3036"/>
                </a:solidFill>
                <a:latin typeface="Aptos"/>
              </a:rPr>
              <a:t>SPL
Secondary Bootloader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3036"/>
                </a:solidFill>
                <a:latin typeface="Apto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00600" y="2542032"/>
            <a:ext cx="365760" cy="0"/>
          </a:xfrm>
          <a:prstGeom prst="line">
            <a:avLst/>
          </a:prstGeom>
          <a:ln w="1651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80" y="1938528"/>
            <a:ext cx="178308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2121408"/>
            <a:ext cx="14356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36"/>
                </a:solidFill>
                <a:latin typeface="Aptos"/>
              </a:rPr>
              <a:t>03</a:t>
            </a:r>
          </a:p>
        </p:txBody>
      </p:sp>
      <p:sp>
        <p:nvSpPr>
          <p:cNvPr id="19" name="Step 3] [input / Output Placeholder"/>
          <p:cNvSpPr txBox="1"/>
          <p:nvPr/>
        </p:nvSpPr>
        <p:spPr>
          <a:xfrm>
            <a:off x="5413248" y="2596896"/>
            <a:ext cx="143560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3036"/>
                </a:solidFill>
                <a:latin typeface="Aptos"/>
              </a:rPr>
              <a:t>U-Boot
Kernel Payload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3036"/>
                </a:solidFill>
                <a:latin typeface="Apto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22592" y="2542032"/>
            <a:ext cx="365760" cy="0"/>
          </a:xfrm>
          <a:prstGeom prst="line">
            <a:avLst/>
          </a:prstGeom>
          <a:ln w="1651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34072" y="1938528"/>
            <a:ext cx="1783080" cy="1207008"/>
          </a:xfrm>
          <a:prstGeom prst="roundRect">
            <a:avLst/>
          </a:prstGeom>
          <a:solidFill>
            <a:srgbClr val="DFF7F3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121408"/>
            <a:ext cx="14356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36"/>
                </a:solidFill>
                <a:latin typeface="Aptos"/>
              </a:rPr>
              <a:t>04</a:t>
            </a:r>
          </a:p>
        </p:txBody>
      </p:sp>
      <p:sp>
        <p:nvSpPr>
          <p:cNvPr id="23" name="Step 4] [input / Output Placeholder"/>
          <p:cNvSpPr txBox="1"/>
          <p:nvPr/>
        </p:nvSpPr>
        <p:spPr>
          <a:xfrm>
            <a:off x="7635240" y="2596896"/>
            <a:ext cx="143560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3036"/>
                </a:solidFill>
                <a:latin typeface="Aptos"/>
              </a:rPr>
              <a:t>Kernel
OS Management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3036"/>
                </a:solidFill>
                <a:latin typeface="Aptos"/>
              </a:rPr>
              <a:t/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44584" y="2542032"/>
            <a:ext cx="365760" cy="0"/>
          </a:xfrm>
          <a:prstGeom prst="line">
            <a:avLst/>
          </a:prstGeom>
          <a:ln w="1651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56064" y="1938528"/>
            <a:ext cx="178308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57232" y="2121408"/>
            <a:ext cx="14356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36"/>
                </a:solidFill>
                <a:latin typeface="Aptos"/>
              </a:rPr>
              <a:t>05</a:t>
            </a:r>
          </a:p>
        </p:txBody>
      </p:sp>
      <p:sp>
        <p:nvSpPr>
          <p:cNvPr id="27" name="Step 5] [input / Output Placeholder"/>
          <p:cNvSpPr txBox="1"/>
          <p:nvPr/>
        </p:nvSpPr>
        <p:spPr>
          <a:xfrm>
            <a:off x="9857232" y="2596896"/>
            <a:ext cx="143560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3036"/>
                </a:solidFill>
                <a:latin typeface="Aptos"/>
              </a:rPr>
              <a:t>Init (PID 1)
Userspace Start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3036"/>
                </a:solidFill>
                <a:latin typeface="Aptos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" y="3931920"/>
            <a:ext cx="6967728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ocess Description Placeholder"/>
          <p:cNvSpPr txBox="1"/>
          <p:nvPr/>
        </p:nvSpPr>
        <p:spPr>
          <a:xfrm>
            <a:off x="877824" y="4114800"/>
            <a:ext cx="662025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36"/>
                </a:solidFill>
                <a:latin typeface="Aptos"/>
              </a:rPr>
              <a:t>Boot Chain Stages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4590288"/>
            <a:ext cx="662025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63036"/>
                </a:solidFill>
                <a:latin typeface="Aptos"/>
              </a:rPr>
              <a:t>A multi-stage handover process ensuring hardware is initialized before loading Linux.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3931920"/>
            <a:ext cx="3602736" cy="109728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9560" y="3931920"/>
            <a:ext cx="73152" cy="10972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overnance Or Owner Placeholder"/>
          <p:cNvSpPr txBox="1"/>
          <p:nvPr/>
        </p:nvSpPr>
        <p:spPr>
          <a:xfrm>
            <a:off x="8202168" y="4114800"/>
            <a:ext cx="31638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36"/>
                </a:solidFill>
                <a:latin typeface="Aptos"/>
              </a:rPr>
              <a:t>Handoff Logic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4590288"/>
            <a:ext cx="316382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3036"/>
                </a:solidFill>
                <a:latin typeface="Aptos"/>
              </a:rPr>
              <a:t>Firmware (ROM/SPL) passes control to U-Boot, then to the Linux kernel.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10896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7490"/>
                </a:solidFill>
                <a:latin typeface="Aptos"/>
              </a:rPr>
              <a:t>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78992" y="393192"/>
            <a:ext cx="320040" cy="0"/>
          </a:xfrm>
          <a:prstGeom prst="line">
            <a:avLst/>
          </a:prstGeom>
          <a:ln w="177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17904" y="283464"/>
            <a:ext cx="4114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7274"/>
                </a:solidFill>
                <a:latin typeface="Aptos"/>
              </a:rPr>
              <a:t>CALLOUTS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46520"/>
            <a:ext cx="5669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Embedded Linux | Boot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6858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10 / 14</a:t>
            </a:r>
          </a:p>
        </p:txBody>
      </p:sp>
      <p:sp>
        <p:nvSpPr>
          <p:cNvPr id="7" name="Title Placeholder"/>
          <p:cNvSpPr txBox="1"/>
          <p:nvPr/>
        </p:nvSpPr>
        <p:spPr>
          <a:xfrm>
            <a:off x="676656" y="713232"/>
            <a:ext cx="107899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036"/>
                </a:solidFill>
                <a:latin typeface="Aptos Display"/>
              </a:rPr>
              <a:t>Boot Stage: U-Boot and Kernel</a:t>
            </a:r>
          </a:p>
        </p:txBody>
      </p:sp>
      <p:sp>
        <p:nvSpPr>
          <p:cNvPr id="8" name="Subtitle Placeholder"/>
          <p:cNvSpPr txBox="1"/>
          <p:nvPr/>
        </p:nvSpPr>
        <p:spPr>
          <a:xfrm>
            <a:off x="685800" y="1188720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D7274"/>
                </a:solidFill>
                <a:latin typeface="Aptos"/>
              </a:rPr>
              <a:t>Bootloader's critical role in hardware initialization</a:t>
            </a:r>
          </a:p>
        </p:txBody>
      </p:sp>
      <p:pic>
        <p:nvPicPr>
          <p:cNvPr id="29" name="Main Image 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36192"/>
            <a:ext cx="6629400" cy="425196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818120" y="1755648"/>
            <a:ext cx="365760" cy="36576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755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645920"/>
            <a:ext cx="3209544" cy="841248"/>
          </a:xfrm>
          <a:prstGeom prst="roundRect">
            <a:avLst/>
          </a:prstGeom>
          <a:solidFill>
            <a:srgbClr val="DFF7F3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 1 Placeholder"/>
          <p:cNvSpPr txBox="1"/>
          <p:nvPr/>
        </p:nvSpPr>
        <p:spPr>
          <a:xfrm>
            <a:off x="8503920" y="1755648"/>
            <a:ext cx="2862071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63036"/>
                </a:solidFill>
                <a:latin typeface="Aptos"/>
              </a:rPr>
              <a:t>Loaders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057400"/>
            <a:ext cx="286207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3036"/>
                </a:solidFill>
                <a:latin typeface="Aptos"/>
              </a:rPr>
              <a:t>U-Boot loads kernel/DTB.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132320" y="1938528"/>
            <a:ext cx="365759" cy="457200"/>
          </a:xfrm>
          <a:prstGeom prst="line">
            <a:avLst/>
          </a:prstGeom>
          <a:ln w="12700">
            <a:solidFill>
              <a:srgbClr val="C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3035808"/>
            <a:ext cx="365760" cy="36576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30358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2926080"/>
            <a:ext cx="3209544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llout 2 Placeholder"/>
          <p:cNvSpPr txBox="1"/>
          <p:nvPr/>
        </p:nvSpPr>
        <p:spPr>
          <a:xfrm>
            <a:off x="8503920" y="3035808"/>
            <a:ext cx="2862071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63036"/>
                </a:solidFill>
                <a:latin typeface="Aptos"/>
              </a:rPr>
              <a:t>Arguments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337560"/>
            <a:ext cx="286207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3036"/>
                </a:solidFill>
                <a:latin typeface="Aptos"/>
              </a:rPr>
              <a:t>Pass kernel boot args.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132320" y="3218688"/>
            <a:ext cx="365759" cy="457200"/>
          </a:xfrm>
          <a:prstGeom prst="line">
            <a:avLst/>
          </a:prstGeom>
          <a:ln w="12700">
            <a:solidFill>
              <a:srgbClr val="C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818120" y="4315968"/>
            <a:ext cx="365760" cy="36576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43159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02752" y="4206240"/>
            <a:ext cx="3209544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llout 3 Placeholder"/>
          <p:cNvSpPr txBox="1"/>
          <p:nvPr/>
        </p:nvSpPr>
        <p:spPr>
          <a:xfrm>
            <a:off x="8503920" y="4315968"/>
            <a:ext cx="2862071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63036"/>
                </a:solidFill>
                <a:latin typeface="Aptos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617720"/>
            <a:ext cx="2862071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3036"/>
                </a:solidFill>
                <a:latin typeface="Aptos"/>
              </a:rPr>
              <a:t>Transfer execution flow.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132320" y="4498848"/>
            <a:ext cx="365759" cy="457200"/>
          </a:xfrm>
          <a:prstGeom prst="line">
            <a:avLst/>
          </a:prstGeom>
          <a:ln w="12700">
            <a:solidFill>
              <a:srgbClr val="CFE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10896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7490"/>
                </a:solidFill>
                <a:latin typeface="Aptos"/>
              </a:rPr>
              <a:t>11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78992" y="393192"/>
            <a:ext cx="320040" cy="0"/>
          </a:xfrm>
          <a:prstGeom prst="line">
            <a:avLst/>
          </a:prstGeom>
          <a:ln w="177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17904" y="283464"/>
            <a:ext cx="4114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5D7274"/>
                </a:solidFill>
                <a:latin typeface="Aptos"/>
              </a:rPr>
              <a:t>Tạo PPT ngôn ngữ Tiếng Anh về chủ đề: Embedded Linux Overview,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46520"/>
            <a:ext cx="5669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Embedded Linux | Boot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6858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11 / 14</a:t>
            </a:r>
          </a:p>
        </p:txBody>
      </p:sp>
      <p:sp>
        <p:nvSpPr>
          <p:cNvPr id="7" name="Title Placeholder"/>
          <p:cNvSpPr txBox="1"/>
          <p:nvPr/>
        </p:nvSpPr>
        <p:spPr>
          <a:xfrm>
            <a:off x="676656" y="713232"/>
            <a:ext cx="107899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036"/>
                </a:solidFill>
                <a:latin typeface="Aptos Display"/>
              </a:rPr>
              <a:t>Boot Stage: RootFS and Init</a:t>
            </a:r>
          </a:p>
        </p:txBody>
      </p:sp>
      <p:sp>
        <p:nvSpPr>
          <p:cNvPr id="8" name="Subtitle Placeholder"/>
          <p:cNvSpPr txBox="1"/>
          <p:nvPr/>
        </p:nvSpPr>
        <p:spPr>
          <a:xfrm>
            <a:off x="685800" y="1188720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D7274"/>
                </a:solidFill>
                <a:latin typeface="Aptos"/>
              </a:rPr>
              <a:t>Kernel transition to userspace operations</a:t>
            </a:r>
          </a:p>
        </p:txBody>
      </p:sp>
      <p:pic>
        <p:nvPicPr>
          <p:cNvPr id="21" name="Large Image Placeholde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536192"/>
            <a:ext cx="7040880" cy="41605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28431" y="1536192"/>
            <a:ext cx="3483864" cy="1078992"/>
          </a:xfrm>
          <a:prstGeom prst="roundRect">
            <a:avLst/>
          </a:prstGeom>
          <a:solidFill>
            <a:srgbClr val="DFF7F3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28431" y="1536192"/>
            <a:ext cx="73152" cy="10789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at To Notice Placeholder"/>
          <p:cNvSpPr txBox="1"/>
          <p:nvPr/>
        </p:nvSpPr>
        <p:spPr>
          <a:xfrm>
            <a:off x="8321040" y="1719072"/>
            <a:ext cx="30449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36"/>
                </a:solidFill>
                <a:latin typeface="Aptos"/>
              </a:rPr>
              <a:t>Mounting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3044952" cy="3017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63036"/>
                </a:solidFill>
                <a:latin typeface="Aptos"/>
              </a:rPr>
              <a:t>Kernel mounts the RootFS partition.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907792"/>
            <a:ext cx="3483864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Why It Matters Placeholder"/>
          <p:cNvSpPr txBox="1"/>
          <p:nvPr/>
        </p:nvSpPr>
        <p:spPr>
          <a:xfrm>
            <a:off x="8229600" y="3090672"/>
            <a:ext cx="313639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36"/>
                </a:solidFill>
                <a:latin typeface="Aptos"/>
              </a:rPr>
              <a:t>Init PID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566160"/>
            <a:ext cx="3136391" cy="3017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63036"/>
                </a:solidFill>
                <a:latin typeface="Aptos"/>
              </a:rPr>
              <a:t>Kernel execs first userspace binary.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4279392"/>
            <a:ext cx="3483864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ext Action Placeholder"/>
          <p:cNvSpPr txBox="1"/>
          <p:nvPr/>
        </p:nvSpPr>
        <p:spPr>
          <a:xfrm>
            <a:off x="8229600" y="4462272"/>
            <a:ext cx="3136391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036"/>
                </a:solidFill>
                <a:latin typeface="Aptos"/>
              </a:rPr>
              <a:t>Service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937759"/>
            <a:ext cx="3136391" cy="3017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63036"/>
                </a:solidFill>
                <a:latin typeface="Aptos"/>
              </a:rPr>
              <a:t>OS services initialize fully.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10896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7490"/>
                </a:solidFill>
                <a:latin typeface="Aptos"/>
              </a:rPr>
              <a:t>12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78992" y="393192"/>
            <a:ext cx="320040" cy="0"/>
          </a:xfrm>
          <a:prstGeom prst="line">
            <a:avLst/>
          </a:prstGeom>
          <a:ln w="177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17904" y="283464"/>
            <a:ext cx="4114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D7274"/>
                </a:solidFill>
                <a:latin typeface="Aptos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46520"/>
            <a:ext cx="5669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Embedded Linux | Boot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6858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12 / 14</a:t>
            </a:r>
          </a:p>
        </p:txBody>
      </p:sp>
      <p:sp>
        <p:nvSpPr>
          <p:cNvPr id="7" name="Title Placeholder"/>
          <p:cNvSpPr txBox="1"/>
          <p:nvPr/>
        </p:nvSpPr>
        <p:spPr>
          <a:xfrm>
            <a:off x="676656" y="713232"/>
            <a:ext cx="107899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036"/>
                </a:solidFill>
                <a:latin typeface="Aptos Display"/>
              </a:rPr>
              <a:t>Partitioning Strategy</a:t>
            </a:r>
          </a:p>
        </p:txBody>
      </p:sp>
      <p:sp>
        <p:nvSpPr>
          <p:cNvPr id="8" name="Subtitle Placeholder"/>
          <p:cNvSpPr txBox="1"/>
          <p:nvPr/>
        </p:nvSpPr>
        <p:spPr>
          <a:xfrm>
            <a:off x="685800" y="1188720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D7274"/>
                </a:solidFill>
                <a:latin typeface="Aptos"/>
              </a:rPr>
              <a:t>Storing system components effectively on flash storage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6656" y="1572768"/>
          <a:ext cx="68580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72237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Partition</a:t>
                      </a:r>
                    </a:p>
                  </a:txBody>
                  <a:tcPr marL="54864" marR="54864" marT="27432" marB="27432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Content</a:t>
                      </a:r>
                    </a:p>
                  </a:txBody>
                  <a:tcPr marL="54864" marR="54864" marT="27432" marB="27432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Notes</a:t>
                      </a:r>
                    </a:p>
                  </a:txBody>
                  <a:tcPr marL="54864" marR="54864" marT="27432" marB="27432" anchor="ctr">
                    <a:solidFill>
                      <a:srgbClr val="0E7490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Bootloader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Raw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SPL / U-Boot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Hardware init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Boot Part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FAT32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Kernel / DTB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Essential config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RootFS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EXT4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Libraries / App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Userspace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Reserved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Raw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Env / Config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163036"/>
                          </a:solidFill>
                          <a:latin typeface="Aptos"/>
                        </a:rPr>
                        <a:t>Non-filesystem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00416" y="1572768"/>
            <a:ext cx="3611880" cy="1225296"/>
          </a:xfrm>
          <a:prstGeom prst="roundRect">
            <a:avLst/>
          </a:prstGeom>
          <a:solidFill>
            <a:srgbClr val="DFF7F3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0416" y="1572768"/>
            <a:ext cx="73152" cy="122529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akeaway Placeholder"/>
          <p:cNvSpPr txBox="1"/>
          <p:nvPr/>
        </p:nvSpPr>
        <p:spPr>
          <a:xfrm>
            <a:off x="8193024" y="1755648"/>
            <a:ext cx="31729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63036"/>
                </a:solidFill>
                <a:latin typeface="Aptos"/>
              </a:rPr>
              <a:t>Layout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231136"/>
            <a:ext cx="3172968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3036"/>
                </a:solidFill>
                <a:latin typeface="Aptos"/>
              </a:rPr>
              <a:t>Segregating bootloader, kernel, and filesystem improves update reliability.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416" y="3090672"/>
            <a:ext cx="36118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atchout Placeholder"/>
          <p:cNvSpPr txBox="1"/>
          <p:nvPr/>
        </p:nvSpPr>
        <p:spPr>
          <a:xfrm>
            <a:off x="8101584" y="3273552"/>
            <a:ext cx="32644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63036"/>
                </a:solidFill>
                <a:latin typeface="Aptos"/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4" y="3749039"/>
            <a:ext cx="326440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63036"/>
                </a:solidFill>
                <a:latin typeface="Aptos"/>
              </a:rPr>
              <a:t>Corrupted partition tables halt booting.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0416" y="4389120"/>
            <a:ext cx="3611880" cy="795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ource Placeholder"/>
          <p:cNvSpPr txBox="1"/>
          <p:nvPr/>
        </p:nvSpPr>
        <p:spPr>
          <a:xfrm>
            <a:off x="8101584" y="4498848"/>
            <a:ext cx="326440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63036"/>
                </a:solidFill>
                <a:latin typeface="Aptos"/>
              </a:rPr>
              <a:t>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4" y="4800600"/>
            <a:ext cx="3264408" cy="3017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63036"/>
                </a:solidFill>
                <a:latin typeface="Aptos"/>
              </a:rPr>
              <a:t>Standard Embedded Linux Best Practices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10896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7490"/>
                </a:solidFill>
                <a:latin typeface="Aptos"/>
              </a:rPr>
              <a:t>13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78992" y="393192"/>
            <a:ext cx="320040" cy="0"/>
          </a:xfrm>
          <a:prstGeom prst="line">
            <a:avLst/>
          </a:prstGeom>
          <a:ln w="177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17904" y="283464"/>
            <a:ext cx="4114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5D7274"/>
                </a:solidFill>
                <a:latin typeface="Aptos"/>
              </a:rPr>
              <a:t>Tạo PPT ngôn ngữ Tiếng Anh về chủ đề: Embedded Linux Overview,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46520"/>
            <a:ext cx="5669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Embedded Linux | Boot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6858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13 / 14</a:t>
            </a:r>
          </a:p>
        </p:txBody>
      </p:sp>
      <p:sp>
        <p:nvSpPr>
          <p:cNvPr id="7" name="Title Placeholder"/>
          <p:cNvSpPr txBox="1"/>
          <p:nvPr/>
        </p:nvSpPr>
        <p:spPr>
          <a:xfrm>
            <a:off x="676656" y="713232"/>
            <a:ext cx="107899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036"/>
                </a:solidFill>
                <a:latin typeface="Aptos Display"/>
              </a:rPr>
              <a:t>Managing Boot Risks</a:t>
            </a:r>
          </a:p>
        </p:txBody>
      </p:sp>
      <p:sp>
        <p:nvSpPr>
          <p:cNvPr id="8" name="Subtitle Placeholder"/>
          <p:cNvSpPr txBox="1"/>
          <p:nvPr/>
        </p:nvSpPr>
        <p:spPr>
          <a:xfrm>
            <a:off x="685800" y="1188720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D7274"/>
                </a:solidFill>
                <a:latin typeface="Aptos"/>
              </a:rPr>
              <a:t>Primary causes of failure during initialization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6656" y="1554480"/>
          <a:ext cx="108356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128"/>
                <a:gridCol w="2167128"/>
                <a:gridCol w="2167128"/>
                <a:gridCol w="2167128"/>
                <a:gridCol w="2167128"/>
              </a:tblGrid>
              <a:tr h="6492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Likelihood</a:t>
                      </a:r>
                    </a:p>
                  </a:txBody>
                  <a:tcPr marL="54864" marR="54864" marT="27432" marB="27432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Impact</a:t>
                      </a:r>
                    </a:p>
                  </a:txBody>
                  <a:tcPr marL="54864" marR="54864" marT="27432" marB="27432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Mitigation</a:t>
                      </a:r>
                    </a:p>
                  </a:txBody>
                  <a:tcPr marL="54864" marR="54864" marT="27432" marB="27432" anchor="ctr">
                    <a:solidFill>
                      <a:srgbClr val="0E7490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DTB Error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Firmware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Validated schema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RootFS Corrupt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System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Read-only fs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U-Boot Fail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Firmware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A/B Partitioning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Power Loss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Hardware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3036"/>
                          </a:solidFill>
                          <a:latin typeface="Aptos"/>
                        </a:rPr>
                        <a:t>Watchdog timer</a:t>
                      </a:r>
                    </a:p>
                  </a:txBody>
                  <a:tcPr marL="54864" marR="54864" marT="27432" marB="27432" anchor="ctr">
                    <a:solidFill>
                      <a:srgbClr val="DFF7F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76656" y="5212080"/>
            <a:ext cx="10835640" cy="548640"/>
          </a:xfrm>
          <a:prstGeom prst="roundRect">
            <a:avLst/>
          </a:prstGeom>
          <a:solidFill>
            <a:srgbClr val="DFF7F3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" y="5212080"/>
            <a:ext cx="73152" cy="5486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scalation Trigger Placeholder"/>
          <p:cNvSpPr txBox="1"/>
          <p:nvPr/>
        </p:nvSpPr>
        <p:spPr>
          <a:xfrm>
            <a:off x="969264" y="5330952"/>
            <a:ext cx="27889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63036"/>
                </a:solidFill>
                <a:latin typeface="Aptos"/>
              </a:rPr>
              <a:t>Failure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2775" y="5330952"/>
            <a:ext cx="744321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3036"/>
                </a:solidFill>
                <a:latin typeface="Aptos"/>
              </a:rPr>
              <a:t>If persistent boot failures occur, manual JTAG access or emergency recovery media required.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310896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7490"/>
                </a:solidFill>
                <a:latin typeface="Aptos"/>
              </a:rPr>
              <a:t>14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78992" y="393192"/>
            <a:ext cx="320040" cy="0"/>
          </a:xfrm>
          <a:prstGeom prst="line">
            <a:avLst/>
          </a:prstGeom>
          <a:ln w="177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17904" y="283464"/>
            <a:ext cx="4114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5D7274"/>
                </a:solidFill>
                <a:latin typeface="Aptos"/>
              </a:rPr>
              <a:t>Tạo PPT ngôn ngữ Tiếng Anh về chủ đề: Embedded Linux Overview,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446520"/>
            <a:ext cx="56692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Embedded Linux | Boot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46520"/>
            <a:ext cx="6858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D7274"/>
                </a:solidFill>
                <a:latin typeface="Aptos"/>
              </a:rPr>
              <a:t>14 / 14</a:t>
            </a:r>
          </a:p>
        </p:txBody>
      </p:sp>
      <p:sp>
        <p:nvSpPr>
          <p:cNvPr id="7" name="Title Placeholder"/>
          <p:cNvSpPr txBox="1"/>
          <p:nvPr/>
        </p:nvSpPr>
        <p:spPr>
          <a:xfrm>
            <a:off x="676656" y="713232"/>
            <a:ext cx="107899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036"/>
                </a:solidFill>
                <a:latin typeface="Aptos Display"/>
              </a:rPr>
              <a:t>Summary and Next Steps</a:t>
            </a:r>
          </a:p>
        </p:txBody>
      </p:sp>
      <p:sp>
        <p:nvSpPr>
          <p:cNvPr id="8" name="Subtitle Placeholder"/>
          <p:cNvSpPr txBox="1"/>
          <p:nvPr/>
        </p:nvSpPr>
        <p:spPr>
          <a:xfrm>
            <a:off x="685800" y="1188720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D7274"/>
                </a:solidFill>
                <a:latin typeface="Aptos"/>
              </a:rPr>
              <a:t>Finalizing the embedded development perspective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554480"/>
            <a:ext cx="10835640" cy="1005840"/>
          </a:xfrm>
          <a:prstGeom prst="roundRect">
            <a:avLst/>
          </a:prstGeom>
          <a:solidFill>
            <a:srgbClr val="DFF7F3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" y="1554480"/>
            <a:ext cx="73152" cy="10058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losing Message Placeholder"/>
          <p:cNvSpPr txBox="1"/>
          <p:nvPr/>
        </p:nvSpPr>
        <p:spPr>
          <a:xfrm>
            <a:off x="969264" y="1737360"/>
            <a:ext cx="103967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3036"/>
                </a:solidFill>
                <a:latin typeface="Aptos"/>
              </a:rPr>
              <a:t>The Core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212848"/>
            <a:ext cx="1039672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3036"/>
                </a:solidFill>
                <a:latin typeface="Aptos"/>
              </a:rPr>
              <a:t>Success in embedded Linux depends on robust cross-compilation and a verified, staged boot sequence.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306324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ext Step 1 Placeholder"/>
          <p:cNvSpPr txBox="1"/>
          <p:nvPr/>
        </p:nvSpPr>
        <p:spPr>
          <a:xfrm>
            <a:off x="877824" y="3246120"/>
            <a:ext cx="2898647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63036"/>
                </a:solidFill>
                <a:latin typeface="Aptos"/>
              </a:rPr>
              <a:t>Master Yocto/Buildroot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21608"/>
            <a:ext cx="2898647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3036"/>
                </a:solidFill>
                <a:latin typeface="Aptos"/>
              </a:rPr>
              <a:t>Automate image creation.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306324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ext Step 2 Placeholder"/>
          <p:cNvSpPr txBox="1"/>
          <p:nvPr/>
        </p:nvSpPr>
        <p:spPr>
          <a:xfrm>
            <a:off x="4581144" y="3246120"/>
            <a:ext cx="2898647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63036"/>
                </a:solidFill>
                <a:latin typeface="Aptos"/>
              </a:rPr>
              <a:t>DTB Debugging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3721608"/>
            <a:ext cx="2898647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3036"/>
                </a:solidFill>
                <a:latin typeface="Aptos"/>
              </a:rPr>
              <a:t>Use JTAG for hardware signals.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306324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ext Step 3 Placeholder"/>
          <p:cNvSpPr txBox="1"/>
          <p:nvPr/>
        </p:nvSpPr>
        <p:spPr>
          <a:xfrm>
            <a:off x="8284464" y="3246120"/>
            <a:ext cx="2898647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63036"/>
                </a:solidFill>
                <a:latin typeface="Aptos"/>
              </a:rPr>
              <a:t>A/B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3721608"/>
            <a:ext cx="2898647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3036"/>
                </a:solidFill>
                <a:latin typeface="Aptos"/>
              </a:rPr>
              <a:t>Improve update reliability.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5047488"/>
            <a:ext cx="10835640" cy="64008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F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" y="5047488"/>
            <a:ext cx="73152" cy="6400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ntact Or Appendix Note Placeholder"/>
          <p:cNvSpPr txBox="1"/>
          <p:nvPr/>
        </p:nvSpPr>
        <p:spPr>
          <a:xfrm>
            <a:off x="969264" y="5166359"/>
            <a:ext cx="33832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3036"/>
                </a:solidFill>
                <a:latin typeface="Aptos"/>
              </a:rPr>
              <a:t>Further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5166359"/>
            <a:ext cx="6848855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3036"/>
                </a:solidFill>
                <a:latin typeface="Aptos"/>
              </a:rPr>
              <a:t>Deepen device tree knowledge and kernel debugging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